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3" r:id="rId6"/>
    <p:sldId id="264" r:id="rId7"/>
    <p:sldId id="261" r:id="rId8"/>
    <p:sldId id="262" r:id="rId9"/>
    <p:sldId id="259" r:id="rId10"/>
    <p:sldId id="266" r:id="rId11"/>
    <p:sldId id="267" r:id="rId12"/>
    <p:sldId id="276" r:id="rId13"/>
    <p:sldId id="268" r:id="rId14"/>
    <p:sldId id="269" r:id="rId15"/>
    <p:sldId id="265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en-A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E5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65148-9777-D81B-506E-1390D34DD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908F55-5FD2-BCE0-F2B9-32FBA1779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5A356-C2BC-8B69-4978-31149CC70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6CCFD-770D-4057-ACFD-D1747CA6BDE0}" type="datetimeFigureOut">
              <a:rPr lang="en-AI" smtClean="0"/>
              <a:t>16/09/2026</a:t>
            </a:fld>
            <a:endParaRPr lang="en-A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61FF3-F8E1-E901-F791-012FADC70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B4820-9049-17E5-8FC9-4FEC74C1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C61DD-4FDD-4EDD-A167-8FBB8FD61DF0}" type="slidenum">
              <a:rPr lang="en-AI" smtClean="0"/>
              <a:t>‹#›</a:t>
            </a:fld>
            <a:endParaRPr lang="en-AI"/>
          </a:p>
        </p:txBody>
      </p:sp>
    </p:spTree>
    <p:extLst>
      <p:ext uri="{BB962C8B-B14F-4D97-AF65-F5344CB8AC3E}">
        <p14:creationId xmlns:p14="http://schemas.microsoft.com/office/powerpoint/2010/main" val="849795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74C77-FC73-E299-88C0-AA9DF8AE6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E5EEC-245C-3792-4CA5-50A3D8848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FC36E-6A4D-1966-C326-7F2653766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6CCFD-770D-4057-ACFD-D1747CA6BDE0}" type="datetimeFigureOut">
              <a:rPr lang="en-AI" smtClean="0"/>
              <a:t>16/09/2026</a:t>
            </a:fld>
            <a:endParaRPr lang="en-A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CD2A4-7696-29F5-0A1A-F9BAD6F42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283EF-8651-A314-B231-67F3E09FA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C61DD-4FDD-4EDD-A167-8FBB8FD61DF0}" type="slidenum">
              <a:rPr lang="en-AI" smtClean="0"/>
              <a:t>‹#›</a:t>
            </a:fld>
            <a:endParaRPr lang="en-AI"/>
          </a:p>
        </p:txBody>
      </p:sp>
    </p:spTree>
    <p:extLst>
      <p:ext uri="{BB962C8B-B14F-4D97-AF65-F5344CB8AC3E}">
        <p14:creationId xmlns:p14="http://schemas.microsoft.com/office/powerpoint/2010/main" val="2171751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61880-BE67-74CC-DC1D-DD9EA5F3F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D4C85-A991-3102-3509-82105CD08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D34F0-43AB-2DC0-371C-F3F477729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6CCFD-770D-4057-ACFD-D1747CA6BDE0}" type="datetimeFigureOut">
              <a:rPr lang="en-AI" smtClean="0"/>
              <a:t>16/09/2026</a:t>
            </a:fld>
            <a:endParaRPr lang="en-A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FB62B-F40B-602A-F7CA-E57C3A49F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039FD-80BA-3F8B-848A-8A4A627B4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C61DD-4FDD-4EDD-A167-8FBB8FD61DF0}" type="slidenum">
              <a:rPr lang="en-AI" smtClean="0"/>
              <a:t>‹#›</a:t>
            </a:fld>
            <a:endParaRPr lang="en-AI"/>
          </a:p>
        </p:txBody>
      </p:sp>
    </p:spTree>
    <p:extLst>
      <p:ext uri="{BB962C8B-B14F-4D97-AF65-F5344CB8AC3E}">
        <p14:creationId xmlns:p14="http://schemas.microsoft.com/office/powerpoint/2010/main" val="1043566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0B060-D921-C247-9522-75F4E167A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E3FDD-2EF9-B9CC-E080-1DD83509FA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6B206E-9394-A3B8-EAF7-1F1562E4F5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261451-999F-34CC-A5BB-8DCBC7753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6CCFD-770D-4057-ACFD-D1747CA6BDE0}" type="datetimeFigureOut">
              <a:rPr lang="en-AI" smtClean="0"/>
              <a:t>16/09/2026</a:t>
            </a:fld>
            <a:endParaRPr lang="en-A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68C2A8-3566-9745-97F3-A4628197D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9B00A-50CD-E1FE-30E5-561C24B0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C61DD-4FDD-4EDD-A167-8FBB8FD61DF0}" type="slidenum">
              <a:rPr lang="en-AI" smtClean="0"/>
              <a:t>‹#›</a:t>
            </a:fld>
            <a:endParaRPr lang="en-AI"/>
          </a:p>
        </p:txBody>
      </p:sp>
    </p:spTree>
    <p:extLst>
      <p:ext uri="{BB962C8B-B14F-4D97-AF65-F5344CB8AC3E}">
        <p14:creationId xmlns:p14="http://schemas.microsoft.com/office/powerpoint/2010/main" val="88858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0ABCB-4F8A-0E3D-6CF7-468024CAC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A5D61-F1EC-341A-81A4-A3BE1848A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8ED214-3935-6FDD-829E-2A1CFD13B4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482DFC-BF25-4382-20E0-D00409F80C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924B3-C684-B791-5C70-900CAC170D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128C28-3FD5-3E16-8236-685DC0D45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6CCFD-770D-4057-ACFD-D1747CA6BDE0}" type="datetimeFigureOut">
              <a:rPr lang="en-AI" smtClean="0"/>
              <a:t>16/09/2026</a:t>
            </a:fld>
            <a:endParaRPr lang="en-A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7AAA96-97CE-F37E-172B-C1B5BB4D5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07C4FC-CF1A-AF20-B568-E8F6D3D6E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C61DD-4FDD-4EDD-A167-8FBB8FD61DF0}" type="slidenum">
              <a:rPr lang="en-AI" smtClean="0"/>
              <a:t>‹#›</a:t>
            </a:fld>
            <a:endParaRPr lang="en-AI"/>
          </a:p>
        </p:txBody>
      </p:sp>
    </p:spTree>
    <p:extLst>
      <p:ext uri="{BB962C8B-B14F-4D97-AF65-F5344CB8AC3E}">
        <p14:creationId xmlns:p14="http://schemas.microsoft.com/office/powerpoint/2010/main" val="2579884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D62BC-7CFB-FBB6-01B8-5F79AEA6C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5E23EE-1F15-D793-BC99-6CB6A7CB5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6CCFD-770D-4057-ACFD-D1747CA6BDE0}" type="datetimeFigureOut">
              <a:rPr lang="en-AI" smtClean="0"/>
              <a:t>16/09/2026</a:t>
            </a:fld>
            <a:endParaRPr lang="en-A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E28E31-414E-BCD5-3127-2C9367E1A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68A241-3057-829E-E71D-6D180553F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C61DD-4FDD-4EDD-A167-8FBB8FD61DF0}" type="slidenum">
              <a:rPr lang="en-AI" smtClean="0"/>
              <a:t>‹#›</a:t>
            </a:fld>
            <a:endParaRPr lang="en-AI"/>
          </a:p>
        </p:txBody>
      </p:sp>
    </p:spTree>
    <p:extLst>
      <p:ext uri="{BB962C8B-B14F-4D97-AF65-F5344CB8AC3E}">
        <p14:creationId xmlns:p14="http://schemas.microsoft.com/office/powerpoint/2010/main" val="2912043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8527D8-8871-FF17-A7F0-59D945CEC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6CCFD-770D-4057-ACFD-D1747CA6BDE0}" type="datetimeFigureOut">
              <a:rPr lang="en-AI" smtClean="0"/>
              <a:t>16/09/2026</a:t>
            </a:fld>
            <a:endParaRPr lang="en-A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FD2315-97BC-C007-54A0-A66284AC5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98225-FBC4-8489-C069-967205237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C61DD-4FDD-4EDD-A167-8FBB8FD61DF0}" type="slidenum">
              <a:rPr lang="en-AI" smtClean="0"/>
              <a:t>‹#›</a:t>
            </a:fld>
            <a:endParaRPr lang="en-AI"/>
          </a:p>
        </p:txBody>
      </p:sp>
    </p:spTree>
    <p:extLst>
      <p:ext uri="{BB962C8B-B14F-4D97-AF65-F5344CB8AC3E}">
        <p14:creationId xmlns:p14="http://schemas.microsoft.com/office/powerpoint/2010/main" val="378479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AF349-1916-6BF6-6AE9-590EC8EDA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92C97-05AB-0414-01B8-469C67DEC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590374-7385-5DB4-B992-026D20A72E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5529F-AE83-6F3E-3718-BFD3E5260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6CCFD-770D-4057-ACFD-D1747CA6BDE0}" type="datetimeFigureOut">
              <a:rPr lang="en-AI" smtClean="0"/>
              <a:t>16/09/2026</a:t>
            </a:fld>
            <a:endParaRPr lang="en-A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9377B0-212C-751D-6E29-090974977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96355-7B8E-6158-8AA7-E0791374E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C61DD-4FDD-4EDD-A167-8FBB8FD61DF0}" type="slidenum">
              <a:rPr lang="en-AI" smtClean="0"/>
              <a:t>‹#›</a:t>
            </a:fld>
            <a:endParaRPr lang="en-AI"/>
          </a:p>
        </p:txBody>
      </p:sp>
    </p:spTree>
    <p:extLst>
      <p:ext uri="{BB962C8B-B14F-4D97-AF65-F5344CB8AC3E}">
        <p14:creationId xmlns:p14="http://schemas.microsoft.com/office/powerpoint/2010/main" val="2192659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6D6D9-EE38-CAA7-E957-A1824C06A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9C5749-3192-EB12-5450-782128B20A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58A2E-3EB6-C5C6-62F0-A60B378DD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680525-EE18-4F6B-E8D7-934527AE5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6CCFD-770D-4057-ACFD-D1747CA6BDE0}" type="datetimeFigureOut">
              <a:rPr lang="en-AI" smtClean="0"/>
              <a:t>16/09/2026</a:t>
            </a:fld>
            <a:endParaRPr lang="en-A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18D04-4317-071B-7B66-410A77CB9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676C13-B9C0-46F2-C9E8-D505DF143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C61DD-4FDD-4EDD-A167-8FBB8FD61DF0}" type="slidenum">
              <a:rPr lang="en-AI" smtClean="0"/>
              <a:t>‹#›</a:t>
            </a:fld>
            <a:endParaRPr lang="en-AI"/>
          </a:p>
        </p:txBody>
      </p:sp>
    </p:spTree>
    <p:extLst>
      <p:ext uri="{BB962C8B-B14F-4D97-AF65-F5344CB8AC3E}">
        <p14:creationId xmlns:p14="http://schemas.microsoft.com/office/powerpoint/2010/main" val="1187601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FB2D-260E-ED64-52C1-00BA58704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07DA07-E23C-629C-89FC-9A0B1D2A1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F56E7-A965-1B88-0008-EE2F7B23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6CCFD-770D-4057-ACFD-D1747CA6BDE0}" type="datetimeFigureOut">
              <a:rPr lang="en-AI" smtClean="0"/>
              <a:t>16/09/2026</a:t>
            </a:fld>
            <a:endParaRPr lang="en-A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8FEE7-B1FC-2B7F-3BDD-57EEF2442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E6E41-D35B-E8FA-B923-1CF610A8C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C61DD-4FDD-4EDD-A167-8FBB8FD61DF0}" type="slidenum">
              <a:rPr lang="en-AI" smtClean="0"/>
              <a:t>‹#›</a:t>
            </a:fld>
            <a:endParaRPr lang="en-AI"/>
          </a:p>
        </p:txBody>
      </p:sp>
    </p:spTree>
    <p:extLst>
      <p:ext uri="{BB962C8B-B14F-4D97-AF65-F5344CB8AC3E}">
        <p14:creationId xmlns:p14="http://schemas.microsoft.com/office/powerpoint/2010/main" val="3135328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B28D67-0048-573F-CB17-2144849462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D90058-F647-2F50-2E3B-8ED99B1AD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F1D42-F771-16A2-046F-7D09DD601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6CCFD-770D-4057-ACFD-D1747CA6BDE0}" type="datetimeFigureOut">
              <a:rPr lang="en-AI" smtClean="0"/>
              <a:t>16/09/2026</a:t>
            </a:fld>
            <a:endParaRPr lang="en-A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72389-EFD6-4DD2-51B5-749EE6224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591A7-59D2-95BA-BF5E-4B1832920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C61DD-4FDD-4EDD-A167-8FBB8FD61DF0}" type="slidenum">
              <a:rPr lang="en-AI" smtClean="0"/>
              <a:t>‹#›</a:t>
            </a:fld>
            <a:endParaRPr lang="en-AI"/>
          </a:p>
        </p:txBody>
      </p:sp>
    </p:spTree>
    <p:extLst>
      <p:ext uri="{BB962C8B-B14F-4D97-AF65-F5344CB8AC3E}">
        <p14:creationId xmlns:p14="http://schemas.microsoft.com/office/powerpoint/2010/main" val="3839375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D35C22-16BA-E1A0-166A-D68E94FB8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DAE1F4-6ED1-400D-79A9-79473FDBB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CC66B-7C82-1B18-D83F-58BFD0E31D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46CCFD-770D-4057-ACFD-D1747CA6BDE0}" type="datetimeFigureOut">
              <a:rPr lang="en-AI" smtClean="0"/>
              <a:t>16/09/2026</a:t>
            </a:fld>
            <a:endParaRPr lang="en-A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539CC-E40F-9D98-BE24-40FE696821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4413B-6DBA-6DAF-9C30-EB96FEF2C9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9C61DD-4FDD-4EDD-A167-8FBB8FD61DF0}" type="slidenum">
              <a:rPr lang="en-AI" smtClean="0"/>
              <a:t>‹#›</a:t>
            </a:fld>
            <a:endParaRPr lang="en-AI"/>
          </a:p>
        </p:txBody>
      </p:sp>
    </p:spTree>
    <p:extLst>
      <p:ext uri="{BB962C8B-B14F-4D97-AF65-F5344CB8AC3E}">
        <p14:creationId xmlns:p14="http://schemas.microsoft.com/office/powerpoint/2010/main" val="3637197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83549B-BAA7-81D5-8EEE-39ED7B442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49" y="359870"/>
            <a:ext cx="11530301" cy="613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105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453AD-BB56-3403-6EC2-CFF72FCA4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396" y="939233"/>
            <a:ext cx="10599208" cy="917848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of engineering principles and design concepts to medicine and biology for healthcare purposes, such as diagnosis, monitoring, and therapy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588533-991E-C5F9-47C0-0E8761EE9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964" y="1969929"/>
            <a:ext cx="5781773" cy="31702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27BDF0-F29F-3464-7A97-1461B89B1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227" y="1969929"/>
            <a:ext cx="5781773" cy="317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807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3470C-46B3-1AB8-955F-307CD247F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165" y="665743"/>
            <a:ext cx="10515600" cy="5526514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Biomechanics: Applies classical mechanics and forces to biological systems, human movement, and orthopedic devices. </a:t>
            </a:r>
          </a:p>
          <a:p>
            <a:pPr algn="just"/>
            <a:endParaRPr lang="en-AI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2FE3E2-1C7F-7D1A-B38F-7E20FEC23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175" y="1833513"/>
            <a:ext cx="3949688" cy="46495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B94F3A-B6D0-4B68-58F7-2B3DB833D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970" y="1772239"/>
            <a:ext cx="4844732" cy="477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535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DFC5A-B01B-2508-C6FE-6762EF8F4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676" y="345616"/>
            <a:ext cx="10515600" cy="124751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Biomaterials: Focuses on natural or synthetic materials—like polymers, metals, and ceramics—that are compatible with living tissue for implants and prosthetics. </a:t>
            </a:r>
          </a:p>
          <a:p>
            <a:endParaRPr lang="en-AI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E21C4A-A91A-1D38-1500-996D19855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01" y="1593129"/>
            <a:ext cx="5467521" cy="47111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FA8C02-0F84-0374-29B0-00EDF8959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6152" y="1473100"/>
            <a:ext cx="4956969" cy="495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608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A606A-698D-FE24-0E94-23BFB6431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4207"/>
            <a:ext cx="10515600" cy="88612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Tissue Engineering: Works on creating artificial organs, regenerative medicine, and biological substitutes using cell cultures and scaffolds. </a:t>
            </a:r>
          </a:p>
          <a:p>
            <a:endParaRPr lang="en-AI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C7464-3A86-5A29-1A10-EAECC5E94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487" y="1772238"/>
            <a:ext cx="4994523" cy="46615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9758E0-D9DB-5379-E083-1BC6EFAC7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630" y="1596024"/>
            <a:ext cx="3924300" cy="44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112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DC1D73B-D83F-57DC-F15A-73731AA2C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052" y="546755"/>
            <a:ext cx="4771965" cy="59530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0D3A92-D897-7A59-91DB-06622E03A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915" y="782424"/>
            <a:ext cx="4969455" cy="5717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458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298705-9673-0144-BF36-46E70AE24770}"/>
              </a:ext>
            </a:extLst>
          </p:cNvPr>
          <p:cNvSpPr txBox="1"/>
          <p:nvPr/>
        </p:nvSpPr>
        <p:spPr>
          <a:xfrm>
            <a:off x="765927" y="452735"/>
            <a:ext cx="101597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Bioinstrumentation: Utilizes electronics, sensors, and computer measurements to design diagnostic and therapeutic tools like ECGs and ventilators</a:t>
            </a:r>
            <a:endParaRPr lang="en-AI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F48626-3CAA-90AF-1461-73F1537EF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806" y="1954461"/>
            <a:ext cx="5979376" cy="40095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FADC9E-793A-DFD7-8169-E0AFC7A48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627" y="1975016"/>
            <a:ext cx="4610112" cy="3989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523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75E88-72AF-4E72-4511-672ED144A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517" y="618994"/>
            <a:ext cx="10515600" cy="80445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Imaging: Develops non-invasive visualization technologies including MRI, CT scans, X-rays, and ultrasound systems. </a:t>
            </a:r>
          </a:p>
          <a:p>
            <a:endParaRPr lang="en-AI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F7936D-41E5-F5D8-FDF6-36F104AD2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7" y="1555913"/>
            <a:ext cx="3676650" cy="4933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68DB99-62E4-B487-A8AB-15191E698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178" y="1555913"/>
            <a:ext cx="7400925" cy="493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479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A4C37-044F-0159-EE0E-785876B7A6F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365125"/>
            <a:ext cx="10515600" cy="850900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Engineering: Manages medical equipment procurement, routine calibration, safety audits, and maintenance inside hospitals</a:t>
            </a:r>
          </a:p>
          <a:p>
            <a:endParaRPr lang="en-AI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57A6A5-527E-3ABD-0FE5-739226983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03" y="1814660"/>
            <a:ext cx="4880354" cy="36717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7F6F74-E998-7974-4440-E52D9AD2C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868" y="1814660"/>
            <a:ext cx="6017866" cy="367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251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A222A7-7407-7D92-92E2-6987D0C7F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821" y="844323"/>
            <a:ext cx="7758358" cy="5619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75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ED45C9-6EB7-1A96-5E93-467BF4236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320" y="1449174"/>
            <a:ext cx="4905375" cy="3695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657372-2982-F5E4-FDAB-83D9726F7CDC}"/>
              </a:ext>
            </a:extLst>
          </p:cNvPr>
          <p:cNvSpPr txBox="1"/>
          <p:nvPr/>
        </p:nvSpPr>
        <p:spPr>
          <a:xfrm>
            <a:off x="7041823" y="1640264"/>
            <a:ext cx="36953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Shock treatment for chronic headache and gout </a:t>
            </a:r>
            <a:endParaRPr lang="en-AI" dirty="0"/>
          </a:p>
        </p:txBody>
      </p:sp>
    </p:spTree>
    <p:extLst>
      <p:ext uri="{BB962C8B-B14F-4D97-AF65-F5344CB8AC3E}">
        <p14:creationId xmlns:p14="http://schemas.microsoft.com/office/powerpoint/2010/main" val="2978026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B7B3909-2C11-5990-A50A-D34140EA8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45" y="1074654"/>
            <a:ext cx="6205586" cy="335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631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A394FB1-8B6C-5366-ACF2-2C65A60CB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442" y="657864"/>
            <a:ext cx="5277133" cy="27711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484D9DB-9672-6EF8-7342-E9282871C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32" y="657864"/>
            <a:ext cx="3972157" cy="27711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7E26C9-63D2-FBDF-91FB-E9617813DD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314" y="3520872"/>
            <a:ext cx="3542435" cy="3072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904D94-4C40-8F0E-5F42-E0E4A6BC83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8293" y="3520872"/>
            <a:ext cx="3832569" cy="3072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ABCEAE-1334-A144-BDFD-F28C031396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3383" y="3876444"/>
            <a:ext cx="3485537" cy="232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376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AF9A95-BE1A-01D0-E746-6B6708489DC1}"/>
              </a:ext>
            </a:extLst>
          </p:cNvPr>
          <p:cNvSpPr txBox="1"/>
          <p:nvPr/>
        </p:nvSpPr>
        <p:spPr>
          <a:xfrm>
            <a:off x="5846975" y="410773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Can</a:t>
            </a:r>
            <a:endParaRPr lang="en-AI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8B2DEC-692B-3237-EF8C-9BDD6B59B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701929"/>
              </p:ext>
            </p:extLst>
          </p:nvPr>
        </p:nvGraphicFramePr>
        <p:xfrm>
          <a:off x="1310326" y="719665"/>
          <a:ext cx="9907571" cy="45687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6209">
                  <a:extLst>
                    <a:ext uri="{9D8B030D-6E8A-4147-A177-3AD203B41FA5}">
                      <a16:colId xmlns:a16="http://schemas.microsoft.com/office/drawing/2014/main" val="1204820299"/>
                    </a:ext>
                  </a:extLst>
                </a:gridCol>
                <a:gridCol w="3746560">
                  <a:extLst>
                    <a:ext uri="{9D8B030D-6E8A-4147-A177-3AD203B41FA5}">
                      <a16:colId xmlns:a16="http://schemas.microsoft.com/office/drawing/2014/main" val="786700503"/>
                    </a:ext>
                  </a:extLst>
                </a:gridCol>
                <a:gridCol w="3564802">
                  <a:extLst>
                    <a:ext uri="{9D8B030D-6E8A-4147-A177-3AD203B41FA5}">
                      <a16:colId xmlns:a16="http://schemas.microsoft.com/office/drawing/2014/main" val="3896926095"/>
                    </a:ext>
                  </a:extLst>
                </a:gridCol>
              </a:tblGrid>
              <a:tr h="72685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AI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Iron Lung (Past)</a:t>
                      </a:r>
                      <a:endParaRPr lang="en-AI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Modern Mechanical Ventilator (Present)</a:t>
                      </a:r>
                      <a:endParaRPr lang="en-AI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9292768"/>
                  </a:ext>
                </a:extLst>
              </a:tr>
              <a:tr h="72685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Pressure Type</a:t>
                      </a:r>
                      <a:endParaRPr lang="en-AI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Negative pressure (vacuum forces chest to expand)</a:t>
                      </a:r>
                      <a:endParaRPr lang="en-AI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Positive pressure (pushes air directly into lungs)</a:t>
                      </a:r>
                      <a:endParaRPr lang="en-AI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097624"/>
                  </a:ext>
                </a:extLst>
              </a:tr>
              <a:tr h="1038357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 Mobility</a:t>
                      </a:r>
                      <a:endParaRPr lang="en-AI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Completely trapped inside a steel tank</a:t>
                      </a:r>
                      <a:endParaRPr lang="en-AI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Portable; patients can sit up, be moved, or use wheelchairs</a:t>
                      </a:r>
                      <a:endParaRPr lang="en-AI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143659"/>
                  </a:ext>
                </a:extLst>
              </a:tr>
              <a:tr h="1038357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Medical Access</a:t>
                      </a:r>
                      <a:endParaRPr lang="en-AI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 for doctors to access the patient's body</a:t>
                      </a:r>
                      <a:endParaRPr lang="en-AI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 body access for nursing care and physical therapy</a:t>
                      </a:r>
                      <a:endParaRPr lang="en-AI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015614"/>
                  </a:ext>
                </a:extLst>
              </a:tr>
              <a:tr h="1038357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Versatility</a:t>
                      </a:r>
                      <a:endParaRPr lang="en-AI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effective for paralyzed muscles (failed with pneumonia)</a:t>
                      </a:r>
                      <a:endParaRPr lang="en-AI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treat complex lung conditions, fluid buildup, and infections</a:t>
                      </a:r>
                      <a:endParaRPr lang="en-AI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233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2719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D91F66-9528-80C3-9F91-78B0BE8D9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63" y="1244338"/>
            <a:ext cx="6866684" cy="40715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BAA024-83FA-E159-D9BB-D2D135B112B6}"/>
              </a:ext>
            </a:extLst>
          </p:cNvPr>
          <p:cNvSpPr txBox="1"/>
          <p:nvPr/>
        </p:nvSpPr>
        <p:spPr>
          <a:xfrm>
            <a:off x="584463" y="243764"/>
            <a:ext cx="33559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Pacemaker</a:t>
            </a:r>
            <a:endParaRPr lang="en-AI" sz="2800" b="1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3BC3E9-809D-8A0B-8999-63C3D3C8E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1383" y="1344052"/>
            <a:ext cx="3971825" cy="39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24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AA3E8D70-14C1-6F11-B953-5EF7D484D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87" y="734737"/>
            <a:ext cx="10906689" cy="480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55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7EEAB60-EFC6-4273-E5ED-F9D1C829D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38" y="1216058"/>
            <a:ext cx="4791027" cy="39165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816DB54-4E92-1B86-297F-8EBF4BC53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830" y="1482168"/>
            <a:ext cx="2802184" cy="35112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D3E765-0408-1EBB-B861-037DCF951EA4}"/>
              </a:ext>
            </a:extLst>
          </p:cNvPr>
          <p:cNvSpPr txBox="1"/>
          <p:nvPr/>
        </p:nvSpPr>
        <p:spPr>
          <a:xfrm>
            <a:off x="584463" y="243764"/>
            <a:ext cx="33559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ECG</a:t>
            </a:r>
            <a:endParaRPr lang="en-AI" sz="2800" b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208F47-6C54-13AC-AF67-2AACEF9C1F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0358" y="1637907"/>
            <a:ext cx="2967624" cy="329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249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B8A007-873A-C2B4-AC5C-31440537CB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041777"/>
              </p:ext>
            </p:extLst>
          </p:nvPr>
        </p:nvGraphicFramePr>
        <p:xfrm>
          <a:off x="989814" y="461913"/>
          <a:ext cx="10218657" cy="57441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5743">
                  <a:extLst>
                    <a:ext uri="{9D8B030D-6E8A-4147-A177-3AD203B41FA5}">
                      <a16:colId xmlns:a16="http://schemas.microsoft.com/office/drawing/2014/main" val="2299286795"/>
                    </a:ext>
                  </a:extLst>
                </a:gridCol>
                <a:gridCol w="3986695">
                  <a:extLst>
                    <a:ext uri="{9D8B030D-6E8A-4147-A177-3AD203B41FA5}">
                      <a16:colId xmlns:a16="http://schemas.microsoft.com/office/drawing/2014/main" val="3126490833"/>
                    </a:ext>
                  </a:extLst>
                </a:gridCol>
                <a:gridCol w="3406219">
                  <a:extLst>
                    <a:ext uri="{9D8B030D-6E8A-4147-A177-3AD203B41FA5}">
                      <a16:colId xmlns:a16="http://schemas.microsoft.com/office/drawing/2014/main" val="3367536976"/>
                    </a:ext>
                  </a:extLst>
                </a:gridCol>
              </a:tblGrid>
              <a:tr h="670151"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Past (Early 20th Century)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Present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028491"/>
                  </a:ext>
                </a:extLst>
              </a:tr>
              <a:tr h="957359"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 &amp; Portability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Weighed over 270 kg (600 lbs); required a massive room.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Weighs less than a few ounces; fits in a pocket or on a wrist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377135"/>
                  </a:ext>
                </a:extLst>
              </a:tr>
              <a:tr h="957359"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Patient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Hands and feet were dunked directly into buckets of saltwater.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Small, peel-and-stick disposable adhesive gel electrodes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345850"/>
                  </a:ext>
                </a:extLst>
              </a:tr>
              <a:tr h="957359"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risk of electric shock; required huge electromagnets.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Completely safe, battery-operated, micro-insulated systems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064623"/>
                  </a:ext>
                </a:extLst>
              </a:tr>
              <a:tr h="957359"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Traced by a bulb projection onto a photographic plate or rolling graph paper.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Instantaneous digital wave rendering on high-res monitors and PDFs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356872"/>
                  </a:ext>
                </a:extLst>
              </a:tr>
              <a:tr h="1244566"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Interpretation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calculation by a specialized cardiologist using a physical ruler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AI-driven instant diagnostics flagging rhythm anomalies in real-time.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863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8155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F41D6C1-4A41-5955-8D13-220DD6DB6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633" y="1043380"/>
            <a:ext cx="3464654" cy="47712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4AB75B-0784-AB9B-37B0-7E30E936F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242" y="1111626"/>
            <a:ext cx="4702993" cy="47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167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DA88D8-588A-922A-87AE-56FE9008BF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329012"/>
              </p:ext>
            </p:extLst>
          </p:nvPr>
        </p:nvGraphicFramePr>
        <p:xfrm>
          <a:off x="1329180" y="968447"/>
          <a:ext cx="9671900" cy="4829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4138">
                  <a:extLst>
                    <a:ext uri="{9D8B030D-6E8A-4147-A177-3AD203B41FA5}">
                      <a16:colId xmlns:a16="http://schemas.microsoft.com/office/drawing/2014/main" val="3436751489"/>
                    </a:ext>
                  </a:extLst>
                </a:gridCol>
                <a:gridCol w="4213795">
                  <a:extLst>
                    <a:ext uri="{9D8B030D-6E8A-4147-A177-3AD203B41FA5}">
                      <a16:colId xmlns:a16="http://schemas.microsoft.com/office/drawing/2014/main" val="240745116"/>
                    </a:ext>
                  </a:extLst>
                </a:gridCol>
                <a:gridCol w="3223967">
                  <a:extLst>
                    <a:ext uri="{9D8B030D-6E8A-4147-A177-3AD203B41FA5}">
                      <a16:colId xmlns:a16="http://schemas.microsoft.com/office/drawing/2014/main" val="4046398456"/>
                    </a:ext>
                  </a:extLst>
                </a:gridCol>
              </a:tblGrid>
              <a:tr h="416198"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Ancient Prosthetics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 Prosthetics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3744809"/>
                  </a:ext>
                </a:extLst>
              </a:tr>
              <a:tr h="1026242"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Primary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Bronze, iron, copper, and solid wood strapped with leather.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Carbon fiber composites, titanium, and silicone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275646"/>
                  </a:ext>
                </a:extLst>
              </a:tr>
              <a:tr h="1026242"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Extremely stiff; designed primarily to hide a missing limb or stand still.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energy return; lets users run, swim, and climb stairs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964354"/>
                  </a:ext>
                </a:extLst>
              </a:tr>
              <a:tr h="1334114"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 Mechanism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None; completely passive peg or dead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Microprocessors and sensors adjust joint resistance 50 times a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815215"/>
                  </a:ext>
                </a:extLst>
              </a:tr>
              <a:tr h="1026242"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Attachment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Crude leather belts and heavy straps cutting into the skin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Custom-</a:t>
                      </a:r>
                      <a:r>
                        <a:rPr lang="en-AI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molded</a:t>
                      </a:r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sockets with vacuum suspension and silicone liners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39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22575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756E52C-EF9A-31D7-BAE9-90D43C75A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33" y="1329374"/>
            <a:ext cx="4899142" cy="4006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6C973E-405C-F1A9-35F1-5596AC0E1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317" y="1425902"/>
            <a:ext cx="5822151" cy="4006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7383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063915-CBD5-8602-BC22-CA2D266219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377620"/>
              </p:ext>
            </p:extLst>
          </p:nvPr>
        </p:nvGraphicFramePr>
        <p:xfrm>
          <a:off x="644166" y="680720"/>
          <a:ext cx="10903668" cy="549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972">
                  <a:extLst>
                    <a:ext uri="{9D8B030D-6E8A-4147-A177-3AD203B41FA5}">
                      <a16:colId xmlns:a16="http://schemas.microsoft.com/office/drawing/2014/main" val="2528118977"/>
                    </a:ext>
                  </a:extLst>
                </a:gridCol>
                <a:gridCol w="3883843">
                  <a:extLst>
                    <a:ext uri="{9D8B030D-6E8A-4147-A177-3AD203B41FA5}">
                      <a16:colId xmlns:a16="http://schemas.microsoft.com/office/drawing/2014/main" val="1660015296"/>
                    </a:ext>
                  </a:extLst>
                </a:gridCol>
                <a:gridCol w="4590853">
                  <a:extLst>
                    <a:ext uri="{9D8B030D-6E8A-4147-A177-3AD203B41FA5}">
                      <a16:colId xmlns:a16="http://schemas.microsoft.com/office/drawing/2014/main" val="40621498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Technology/device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addressed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Why it became successful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791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Pacemaker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Abnormal/slow heart rhythm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Reliable electrical stimulation of the heart; miniaturization and improved battery technology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5952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Artificial hip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Severe joint damage/arthritis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biomaterials, biomechanics and implant design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929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Insulin pump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 insulin delivery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Controlled drug delivery and improved electronic/sensor technology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924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Pulse oximeter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Monitoring blood oxygen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Non-invasive measurement, simple operation and rapid clinical feedback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242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Cochlear implant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Severe hearing loss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Converts sound into electrical signals that stimulate the auditory nerve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382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Modern prosthetic limbs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Loss of limb function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Combination of biomechanics, materials, electronics and increasingly sensors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315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Mechanical ventilator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Respiratory failure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I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Controlled delivery of oxygen/air and adjustable pressure/volume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446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I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I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I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5373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02932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161CB6F-BCC6-5DA3-FF8A-79AF894FCA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487523"/>
              </p:ext>
            </p:extLst>
          </p:nvPr>
        </p:nvGraphicFramePr>
        <p:xfrm>
          <a:off x="1074656" y="392608"/>
          <a:ext cx="9813304" cy="607278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164264">
                  <a:extLst>
                    <a:ext uri="{9D8B030D-6E8A-4147-A177-3AD203B41FA5}">
                      <a16:colId xmlns:a16="http://schemas.microsoft.com/office/drawing/2014/main" val="2679694766"/>
                    </a:ext>
                  </a:extLst>
                </a:gridCol>
                <a:gridCol w="3324520">
                  <a:extLst>
                    <a:ext uri="{9D8B030D-6E8A-4147-A177-3AD203B41FA5}">
                      <a16:colId xmlns:a16="http://schemas.microsoft.com/office/drawing/2014/main" val="3932484363"/>
                    </a:ext>
                  </a:extLst>
                </a:gridCol>
                <a:gridCol w="3324520">
                  <a:extLst>
                    <a:ext uri="{9D8B030D-6E8A-4147-A177-3AD203B41FA5}">
                      <a16:colId xmlns:a16="http://schemas.microsoft.com/office/drawing/2014/main" val="2811323897"/>
                    </a:ext>
                  </a:extLst>
                </a:gridCol>
              </a:tblGrid>
              <a:tr h="2957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Technology/device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What happened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Main lesson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4005788"/>
                  </a:ext>
                </a:extLst>
              </a:tr>
              <a:tr h="7394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 err="1"/>
                        <a:t>Dalkon</a:t>
                      </a:r>
                      <a:r>
                        <a:rPr lang="en-US" sz="1600" b="1" dirty="0"/>
                        <a:t> Shield IUD</a:t>
                      </a:r>
                      <a:endParaRPr lang="en-US" sz="160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Introduced in the 1970s; associated with serious infections and other complications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Device </a:t>
                      </a:r>
                      <a:r>
                        <a:rPr lang="en-US" sz="1600" dirty="0">
                          <a:highlight>
                            <a:srgbClr val="FFFF00"/>
                          </a:highlight>
                        </a:rPr>
                        <a:t>safety and clinical testing </a:t>
                      </a:r>
                      <a:r>
                        <a:rPr lang="en-US" sz="1600" dirty="0"/>
                        <a:t>are essential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1700503"/>
                  </a:ext>
                </a:extLst>
              </a:tr>
              <a:tr h="7394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Bjork–Shiley heart valve</a:t>
                      </a:r>
                      <a:endParaRPr lang="en-US" sz="16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Certain valve models experienced structural failure, including fracture of the valve strut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Long-term </a:t>
                      </a:r>
                      <a:r>
                        <a:rPr lang="en-US" sz="1600" dirty="0">
                          <a:highlight>
                            <a:srgbClr val="FFFF00"/>
                          </a:highlight>
                        </a:rPr>
                        <a:t>mechanical fatigue </a:t>
                      </a:r>
                      <a:r>
                        <a:rPr lang="en-US" sz="1600" dirty="0"/>
                        <a:t>testing matters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608555"/>
                  </a:ext>
                </a:extLst>
              </a:tr>
              <a:tr h="7394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DePuy ASR hip implant</a:t>
                      </a:r>
                      <a:endParaRPr lang="en-US" sz="16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Metal-on-metal hip implants had higher-than-expected failure/revision problems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highlight>
                            <a:srgbClr val="FFFF00"/>
                          </a:highlight>
                        </a:rPr>
                        <a:t>Material selection</a:t>
                      </a:r>
                      <a:r>
                        <a:rPr lang="en-US" sz="1600" dirty="0"/>
                        <a:t>, wear and long-term biological effects matter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0530034"/>
                  </a:ext>
                </a:extLst>
              </a:tr>
              <a:tr h="7394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PIP breast implants</a:t>
                      </a:r>
                      <a:endParaRPr lang="en-US" sz="16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Industrial-grade silicone rather than approved medical-grade material was used in implants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Manufacturing </a:t>
                      </a:r>
                      <a:r>
                        <a:rPr lang="en-US" sz="1600" dirty="0">
                          <a:highlight>
                            <a:srgbClr val="FFFF00"/>
                          </a:highlight>
                        </a:rPr>
                        <a:t>quality and regulatory oversight </a:t>
                      </a:r>
                      <a:r>
                        <a:rPr lang="en-US" sz="1600" dirty="0"/>
                        <a:t>are critical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9057340"/>
                  </a:ext>
                </a:extLst>
              </a:tr>
              <a:tr h="961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Therac-25</a:t>
                      </a:r>
                      <a:endParaRPr lang="en-US" sz="16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Radiation therapy machine involved software and human machine interaction problems that contributed to radiation overdoses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Software safety and human factors are biomedical-engineering issues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1843129"/>
                  </a:ext>
                </a:extLst>
              </a:tr>
              <a:tr h="7394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Artificial heart / early total artificial heart attempts</a:t>
                      </a:r>
                      <a:endParaRPr lang="en-US" sz="16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Early systems had problems such as infection, blood clotting, durability and power requirements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highlight>
                            <a:srgbClr val="FFFF00"/>
                          </a:highlight>
                        </a:rPr>
                        <a:t>Biological compatibility </a:t>
                      </a:r>
                      <a:r>
                        <a:rPr lang="en-US" sz="1600" dirty="0"/>
                        <a:t>and engineering reliability must be considered together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0997117"/>
                  </a:ext>
                </a:extLst>
              </a:tr>
              <a:tr h="7394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Metal-on-metal hip implants</a:t>
                      </a:r>
                      <a:endParaRPr lang="en-US" sz="16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Wear could release metal particles/ions into surrounding tissue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 mechanically strong material is not automatically biologically suitable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4231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7604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762</Words>
  <Application>Microsoft Office PowerPoint</Application>
  <PresentationFormat>Widescreen</PresentationFormat>
  <Paragraphs>107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Saarika P K</dc:creator>
  <cp:lastModifiedBy>Saarika P K</cp:lastModifiedBy>
  <cp:revision>29</cp:revision>
  <dcterms:created xsi:type="dcterms:W3CDTF">2026-09-15T04:42:46Z</dcterms:created>
  <dcterms:modified xsi:type="dcterms:W3CDTF">2026-09-16T08:54:49Z</dcterms:modified>
</cp:coreProperties>
</file>